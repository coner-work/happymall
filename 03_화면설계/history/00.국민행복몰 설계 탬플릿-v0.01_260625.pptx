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1803" r:id="rId5"/>
    <p:sldId id="624" r:id="rId6"/>
    <p:sldId id="1963" r:id="rId7"/>
    <p:sldId id="1978" r:id="rId8"/>
    <p:sldId id="1952" r:id="rId9"/>
    <p:sldId id="1976" r:id="rId10"/>
    <p:sldId id="1977" r:id="rId11"/>
    <p:sldId id="1975" r:id="rId12"/>
    <p:sldId id="1969" r:id="rId13"/>
    <p:sldId id="1971" r:id="rId14"/>
    <p:sldId id="1979" r:id="rId15"/>
    <p:sldId id="1857" r:id="rId16"/>
    <p:sldId id="1860" r:id="rId17"/>
    <p:sldId id="1859" r:id="rId18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</p14:sldIdLst>
        </p14:section>
        <p14:section name="00_메시지 정의" id="{5DD362AE-726B-4C27-8E97-65B2850CC0BB}">
          <p14:sldIdLst>
            <p14:sldId id="1963"/>
            <p14:sldId id="1978"/>
            <p14:sldId id="1952"/>
            <p14:sldId id="1976"/>
            <p14:sldId id="1977"/>
            <p14:sldId id="1975"/>
          </p14:sldIdLst>
        </p14:section>
        <p14:section name="99_공통 UI" id="{FB1F9519-2BDA-4234-9D09-AA2A8F726DE7}">
          <p14:sldIdLst>
            <p14:sldId id="1969"/>
            <p14:sldId id="1971"/>
            <p14:sldId id="1979"/>
            <p14:sldId id="1857"/>
            <p14:sldId id="1860"/>
            <p14:sldId id="18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1" autoAdjust="0"/>
  </p:normalViewPr>
  <p:slideViewPr>
    <p:cSldViewPr>
      <p:cViewPr>
        <p:scale>
          <a:sx n="100" d="100"/>
          <a:sy n="100" d="100"/>
        </p:scale>
        <p:origin x="2304" y="142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헤더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4.png"/><Relationship Id="rId2" Type="http://schemas.openxmlformats.org/officeDocument/2006/relationships/tags" Target="../tags/tag2.xml"/><Relationship Id="rId16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설계 단위명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0810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47512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작성자명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4EE96E3A-74C3-496F-A8E7-6D6989160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052558"/>
              </p:ext>
            </p:extLst>
          </p:nvPr>
        </p:nvGraphicFramePr>
        <p:xfrm>
          <a:off x="406617" y="787502"/>
          <a:ext cx="12123024" cy="3592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629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143959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44044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9648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0112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135390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838903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909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36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10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신규 그룹 생성 팝업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latin typeface="+mn-ea"/>
                          <a:ea typeface="+mn-ea"/>
                        </a:rPr>
                        <a:t>HH-U-SY-05-01-01p</a:t>
                      </a:r>
                      <a:endParaRPr lang="ko-KR" altLang="en-US" sz="900" spc="-150" dirty="0"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그룹명을 입력 안했을 경우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 선택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그룹명을 입력해주세요</a:t>
                      </a:r>
                      <a:r>
                        <a:rPr lang="en-US" altLang="ko-KR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닫은 후 </a:t>
                      </a:r>
                      <a:r>
                        <a:rPr lang="ko-KR" altLang="en-US" sz="900" kern="120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해당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영역으로 포커스 이동</a:t>
                      </a:r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신규 그룹 생성 팝업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latin typeface="+mn-ea"/>
                          <a:ea typeface="+mn-ea"/>
                        </a:rPr>
                        <a:t>HH-U-SY-05-01-01p</a:t>
                      </a:r>
                      <a:endParaRPr lang="ko-KR" altLang="en-US" sz="900" spc="-150" dirty="0"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그룹명이 이미 존재할 경우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 선택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동일한 그룹명이 존재합니다</a:t>
                      </a:r>
                      <a:r>
                        <a:rPr lang="en-US" altLang="ko-KR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그룹명을 입력해주세요</a:t>
                      </a:r>
                      <a:r>
                        <a:rPr lang="en-US" altLang="ko-KR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닫은 후 </a:t>
                      </a:r>
                      <a:r>
                        <a:rPr lang="ko-KR" altLang="en-US" sz="900" kern="120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해당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영역으로 포커스 이동</a:t>
                      </a:r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신규 그룹 생성 팝업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latin typeface="+mn-ea"/>
                          <a:ea typeface="+mn-ea"/>
                        </a:rPr>
                        <a:t>HH-U-SY-05-01-01p</a:t>
                      </a:r>
                      <a:endParaRPr lang="ko-KR" altLang="en-US" sz="900" spc="-150" dirty="0"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 </a:t>
                      </a:r>
                      <a:r>
                        <a:rPr lang="ko-KR" altLang="en-US" sz="9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안했을</a:t>
                      </a:r>
                      <a:r>
                        <a:rPr lang="ko-KR" altLang="en-US" sz="9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경우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 선택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닫은 후 </a:t>
                      </a:r>
                      <a:r>
                        <a:rPr lang="ko-KR" altLang="en-US" sz="900" kern="120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해당 </a:t>
                      </a:r>
                      <a:r>
                        <a:rPr lang="ko-KR" altLang="en-US" sz="900" kern="12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영역으로 포커스 이동</a:t>
                      </a:r>
                      <a:endParaRPr lang="ko-KR" altLang="en-US" sz="9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66232"/>
                  </a:ext>
                </a:extLst>
              </a:tr>
              <a:tr h="20505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신규 그룹 생성 팝업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latin typeface="+mn-ea"/>
                          <a:ea typeface="+mn-ea"/>
                        </a:rPr>
                        <a:t>HH-U-SY-05-01-01p</a:t>
                      </a:r>
                      <a:endParaRPr lang="ko-KR" altLang="en-US" sz="900" spc="-150" dirty="0"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모두 입력 후 정상적으로 등록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 선택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9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그룹이 생성되었습니다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543119"/>
                  </a:ext>
                </a:extLst>
              </a:tr>
              <a:tr h="290783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신규 그룹 생성 팝업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pc="-150" dirty="0">
                          <a:latin typeface="+mn-ea"/>
                          <a:ea typeface="+mn-ea"/>
                        </a:rPr>
                        <a:t>HH-U-SY-05-01-01p</a:t>
                      </a:r>
                      <a:endParaRPr lang="ko-KR" altLang="en-US" sz="900" spc="-150" dirty="0"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중 취소 버튼 선택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  <a:r>
                        <a:rPr lang="ko-KR" altLang="en-US" sz="9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선택 시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내용을 저장하지 않고 취소하시겠습니까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??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 및 </a:t>
                      </a:r>
                      <a:r>
                        <a:rPr lang="ko-KR" altLang="en-US" sz="90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내용 </a:t>
                      </a:r>
                      <a:r>
                        <a:rPr lang="ko-KR" altLang="en-US" sz="90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미저장</a:t>
                      </a:r>
                      <a:r>
                        <a:rPr lang="ko-KR" altLang="en-US" sz="90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후 팝업 닫기</a:t>
                      </a:r>
                      <a:endParaRPr lang="en-US" altLang="ko-KR" sz="90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9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99739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030535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5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09B13-1D21-5F4C-F2D9-3D7CE070D13C}"/>
              </a:ext>
            </a:extLst>
          </p:cNvPr>
          <p:cNvSpPr txBox="1"/>
          <p:nvPr/>
        </p:nvSpPr>
        <p:spPr>
          <a:xfrm>
            <a:off x="4590066" y="2772197"/>
            <a:ext cx="3781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</a:t>
            </a:r>
            <a:r>
              <a:rPr lang="en-US" altLang="ko-KR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정의</a:t>
            </a:r>
            <a:r>
              <a:rPr lang="en-US" altLang="ko-KR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고려사항 등 내용 공유 화면에 사용</a:t>
            </a:r>
          </a:p>
        </p:txBody>
      </p:sp>
    </p:spTree>
    <p:extLst>
      <p:ext uri="{BB962C8B-B14F-4D97-AF65-F5344CB8AC3E}">
        <p14:creationId xmlns:p14="http://schemas.microsoft.com/office/powerpoint/2010/main" val="406944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64121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FB4ABF-D55B-E4CB-14BF-6CFD52B7F53D}"/>
              </a:ext>
            </a:extLst>
          </p:cNvPr>
          <p:cNvSpPr/>
          <p:nvPr/>
        </p:nvSpPr>
        <p:spPr bwMode="auto">
          <a:xfrm>
            <a:off x="12961937" y="0"/>
            <a:ext cx="2736055" cy="432048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6/17 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3-2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요청으로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관심버튼 삭제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0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8E93CA-2E73-FF1E-D266-90A28E2F549F}"/>
              </a:ext>
            </a:extLst>
          </p:cNvPr>
          <p:cNvSpPr txBox="1"/>
          <p:nvPr/>
        </p:nvSpPr>
        <p:spPr>
          <a:xfrm>
            <a:off x="3692000" y="3143270"/>
            <a:ext cx="3113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화면 헤더</a:t>
            </a:r>
            <a:r>
              <a:rPr lang="en-US" altLang="ko-KR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1200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푸터</a:t>
            </a:r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있는 경우 노출  화면 스타일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6F0B-481F-38E4-6525-2BA26F5F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9A606D-10EF-E659-249C-5B3DD362B8F4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56350-EBCA-4C37-AA58-0AF43A832F66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1B6456-8324-A709-4572-0ACFA1653D90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7CC17-7834-FD7A-3AD8-84DDFC76BA9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174B5-1D7C-8447-6B66-A4120DAD630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43D91D6-1A42-F413-D040-AAAC48559AEE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A23E3A-D775-F099-BF07-1F3CE90C37DA}"/>
              </a:ext>
            </a:extLst>
          </p:cNvPr>
          <p:cNvSpPr/>
          <p:nvPr/>
        </p:nvSpPr>
        <p:spPr bwMode="auto">
          <a:xfrm>
            <a:off x="12961937" y="0"/>
            <a:ext cx="2736055" cy="432048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6/17 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3-2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요청으로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관심버튼 삭제</a:t>
            </a:r>
            <a:r>
              <a:rPr kumimoji="1" lang="en-US" altLang="ko-KR" sz="10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0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85551-AF4F-4C1E-8CB0-D087B0DF3B70}"/>
              </a:ext>
            </a:extLst>
          </p:cNvPr>
          <p:cNvSpPr txBox="1"/>
          <p:nvPr/>
        </p:nvSpPr>
        <p:spPr>
          <a:xfrm>
            <a:off x="3692000" y="3143270"/>
            <a:ext cx="3113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화면 헤더</a:t>
            </a:r>
            <a:r>
              <a:rPr lang="en-US" altLang="ko-KR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1200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푸터</a:t>
            </a:r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있는 경우 노출  팝업 스타일</a:t>
            </a:r>
          </a:p>
        </p:txBody>
      </p:sp>
    </p:spTree>
    <p:extLst>
      <p:ext uri="{BB962C8B-B14F-4D97-AF65-F5344CB8AC3E}">
        <p14:creationId xmlns:p14="http://schemas.microsoft.com/office/powerpoint/2010/main" val="4182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CD05-149A-F479-BBAC-A0F7A602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913372-4556-1CCB-D986-A26F95FD096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071EEBF9-74BA-FCDF-DCF6-E13BDED41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113272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C22804-6B18-4F8C-047D-5FF072295565}"/>
              </a:ext>
            </a:extLst>
          </p:cNvPr>
          <p:cNvSpPr txBox="1"/>
          <p:nvPr/>
        </p:nvSpPr>
        <p:spPr>
          <a:xfrm>
            <a:off x="3692000" y="3143270"/>
            <a:ext cx="2380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 </a:t>
            </a:r>
            <a:r>
              <a:rPr lang="ko-KR" altLang="en-US" sz="1200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슬라이드랑</a:t>
            </a:r>
            <a:r>
              <a:rPr lang="ko-KR" altLang="en-US" sz="12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이어지는 화면 인 경우</a:t>
            </a:r>
          </a:p>
        </p:txBody>
      </p:sp>
    </p:spTree>
    <p:extLst>
      <p:ext uri="{BB962C8B-B14F-4D97-AF65-F5344CB8AC3E}">
        <p14:creationId xmlns:p14="http://schemas.microsoft.com/office/powerpoint/2010/main" val="96024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97F6-CEDF-31EA-2264-B87E84E3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A975A-4AE3-BA66-0A81-78A6904B320B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3D3C2-B856-8F25-9BC7-FF54C08878C4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EDCCFF-3F64-C820-93F6-62707DB3EB39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A62A0-71A3-0F94-7D3B-B8AEEAB1813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28BB6-1702-2872-02DC-CE75D9668FE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A1FC460-BBC6-EE62-1CD0-F00D17A0F6F0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94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27211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745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1327687" y="1932452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722C7D5-EDDB-632E-970C-48B48CCDFE93}"/>
              </a:ext>
            </a:extLst>
          </p:cNvPr>
          <p:cNvGrpSpPr/>
          <p:nvPr/>
        </p:nvGrpSpPr>
        <p:grpSpPr>
          <a:xfrm>
            <a:off x="11327687" y="3069192"/>
            <a:ext cx="629913" cy="172355"/>
            <a:chOff x="6148364" y="711082"/>
            <a:chExt cx="1052685" cy="28803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43F0E0-AFD3-97B3-4954-903859A8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3FC9295-4A34-B9C4-27DE-53CF04C88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8EE6498-AE35-252C-CB9A-0C54DEB4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메인 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36279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https://www.kurly.com/categories/073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379A703-6C7A-8E52-F8BF-F063E8569A38}"/>
              </a:ext>
            </a:extLst>
          </p:cNvPr>
          <p:cNvSpPr/>
          <p:nvPr/>
        </p:nvSpPr>
        <p:spPr>
          <a:xfrm>
            <a:off x="8622483" y="1075317"/>
            <a:ext cx="3159299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F3EF5CB3-66C6-5C86-B2A8-FF10D0364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45" y="3085603"/>
            <a:ext cx="333375" cy="295275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1E2263-E9D4-5116-4671-B466F5634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925" y="3072611"/>
            <a:ext cx="304800" cy="3429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E34D34FE-95F3-752E-855E-93F8E6059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10550125" y="3110614"/>
            <a:ext cx="334680" cy="250770"/>
          </a:xfrm>
          <a:prstGeom prst="rect">
            <a:avLst/>
          </a:prstGeom>
        </p:spPr>
      </p:pic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F272EF96-8237-63EE-63AC-A918A3104443}"/>
              </a:ext>
            </a:extLst>
          </p:cNvPr>
          <p:cNvSpPr/>
          <p:nvPr/>
        </p:nvSpPr>
        <p:spPr>
          <a:xfrm>
            <a:off x="11357882" y="3090906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1C6D0DD-42DE-A2D3-875D-6803D7CDFF01}"/>
              </a:ext>
            </a:extLst>
          </p:cNvPr>
          <p:cNvSpPr/>
          <p:nvPr/>
        </p:nvSpPr>
        <p:spPr>
          <a:xfrm>
            <a:off x="8622483" y="3049680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4F4455-FA16-1207-E73E-2E285C7BBFFB}"/>
              </a:ext>
            </a:extLst>
          </p:cNvPr>
          <p:cNvSpPr txBox="1"/>
          <p:nvPr/>
        </p:nvSpPr>
        <p:spPr>
          <a:xfrm>
            <a:off x="8497193" y="720877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D9D59A-D02A-8AC3-2FCC-DBF2FE0B53E5}"/>
              </a:ext>
            </a:extLst>
          </p:cNvPr>
          <p:cNvCxnSpPr>
            <a:cxnSpLocks/>
          </p:cNvCxnSpPr>
          <p:nvPr/>
        </p:nvCxnSpPr>
        <p:spPr>
          <a:xfrm>
            <a:off x="11496318" y="3380878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EBF132-D31D-98C2-72E9-95A4061C51B6}"/>
              </a:ext>
            </a:extLst>
          </p:cNvPr>
          <p:cNvSpPr txBox="1"/>
          <p:nvPr/>
        </p:nvSpPr>
        <p:spPr>
          <a:xfrm>
            <a:off x="8700545" y="368378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42C024D-BFD0-D05F-3180-DCA0EF3B09F6}"/>
              </a:ext>
            </a:extLst>
          </p:cNvPr>
          <p:cNvSpPr/>
          <p:nvPr/>
        </p:nvSpPr>
        <p:spPr>
          <a:xfrm>
            <a:off x="87852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93B6F6A3-FDFD-4A55-D8BF-2709A83DE2FE}"/>
              </a:ext>
            </a:extLst>
          </p:cNvPr>
          <p:cNvSpPr/>
          <p:nvPr/>
        </p:nvSpPr>
        <p:spPr>
          <a:xfrm>
            <a:off x="96569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25E8624-98DD-039C-9EE5-AF01FB17684A}"/>
              </a:ext>
            </a:extLst>
          </p:cNvPr>
          <p:cNvSpPr/>
          <p:nvPr/>
        </p:nvSpPr>
        <p:spPr>
          <a:xfrm>
            <a:off x="10503969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2DB2EA9-3F86-D97F-FCB3-AA24EB31CD74}"/>
              </a:ext>
            </a:extLst>
          </p:cNvPr>
          <p:cNvSpPr/>
          <p:nvPr/>
        </p:nvSpPr>
        <p:spPr>
          <a:xfrm>
            <a:off x="11317437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7A69-8B42-E4D8-0A2C-9173CD05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08DE784-8732-3EB8-2959-F48CBD87274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 화면 구조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CC4316-CE93-2B2A-D088-DC0C15E258DA}"/>
              </a:ext>
            </a:extLst>
          </p:cNvPr>
          <p:cNvSpPr/>
          <p:nvPr/>
        </p:nvSpPr>
        <p:spPr>
          <a:xfrm>
            <a:off x="408926" y="574058"/>
            <a:ext cx="9983154" cy="82838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</a:t>
            </a:r>
            <a:r>
              <a:rPr lang="ko-KR" altLang="en-US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</a:t>
            </a:r>
            <a:r>
              <a:rPr lang="en-US" altLang="ko-KR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로고</a:t>
            </a:r>
            <a:r>
              <a:rPr lang="en-US" altLang="ko-KR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+GNB+</a:t>
            </a:r>
            <a:r>
              <a:rPr lang="ko-KR" altLang="en-US" sz="9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검색바</a:t>
            </a:r>
            <a:r>
              <a:rPr lang="en-US" altLang="ko-KR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i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DD1425-36CB-2267-5DC4-CF7BEBDDB0B1}"/>
              </a:ext>
            </a:extLst>
          </p:cNvPr>
          <p:cNvSpPr/>
          <p:nvPr/>
        </p:nvSpPr>
        <p:spPr>
          <a:xfrm>
            <a:off x="408926" y="5868541"/>
            <a:ext cx="9983154" cy="468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 </a:t>
            </a:r>
            <a:r>
              <a:rPr lang="ko-KR" altLang="en-US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F2B1E3-3427-60A1-3396-560029DF77C0}"/>
              </a:ext>
            </a:extLst>
          </p:cNvPr>
          <p:cNvSpPr/>
          <p:nvPr/>
        </p:nvSpPr>
        <p:spPr>
          <a:xfrm>
            <a:off x="408927" y="1404045"/>
            <a:ext cx="9983154" cy="3529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</a:t>
            </a:r>
            <a:r>
              <a:rPr lang="ko-KR" altLang="en-US" sz="9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ko-KR" altLang="en-US" sz="900" b="1" i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98932-E591-9310-0D45-2EE063F30443}"/>
              </a:ext>
            </a:extLst>
          </p:cNvPr>
          <p:cNvSpPr txBox="1"/>
          <p:nvPr/>
        </p:nvSpPr>
        <p:spPr>
          <a:xfrm>
            <a:off x="4631703" y="3219994"/>
            <a:ext cx="1537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</a:t>
            </a:r>
            <a:r>
              <a:rPr lang="en-US" altLang="ko-KR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영역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B956073-C295-5125-3176-7B3AAC408D57}"/>
              </a:ext>
            </a:extLst>
          </p:cNvPr>
          <p:cNvCxnSpPr/>
          <p:nvPr/>
        </p:nvCxnSpPr>
        <p:spPr>
          <a:xfrm>
            <a:off x="10419728" y="583342"/>
            <a:ext cx="432048" cy="0"/>
          </a:xfrm>
          <a:prstGeom prst="line">
            <a:avLst/>
          </a:prstGeom>
          <a:ln w="19050">
            <a:solidFill>
              <a:srgbClr val="342F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11F6F74-85B9-AC4A-AE07-82B1029D87CA}"/>
              </a:ext>
            </a:extLst>
          </p:cNvPr>
          <p:cNvCxnSpPr/>
          <p:nvPr/>
        </p:nvCxnSpPr>
        <p:spPr>
          <a:xfrm>
            <a:off x="10419728" y="6334942"/>
            <a:ext cx="432048" cy="0"/>
          </a:xfrm>
          <a:prstGeom prst="line">
            <a:avLst/>
          </a:prstGeom>
          <a:ln w="19050">
            <a:solidFill>
              <a:srgbClr val="342F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419901C-9EC9-23B4-8101-D404F87B8F20}"/>
              </a:ext>
            </a:extLst>
          </p:cNvPr>
          <p:cNvCxnSpPr/>
          <p:nvPr/>
        </p:nvCxnSpPr>
        <p:spPr>
          <a:xfrm>
            <a:off x="10635752" y="577604"/>
            <a:ext cx="0" cy="5650977"/>
          </a:xfrm>
          <a:prstGeom prst="line">
            <a:avLst/>
          </a:prstGeom>
          <a:ln w="12700">
            <a:solidFill>
              <a:srgbClr val="342F94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874E19-9A51-45E2-6051-51CB0C6BE130}"/>
              </a:ext>
            </a:extLst>
          </p:cNvPr>
          <p:cNvSpPr txBox="1"/>
          <p:nvPr/>
        </p:nvSpPr>
        <p:spPr>
          <a:xfrm>
            <a:off x="10359666" y="3313882"/>
            <a:ext cx="80182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 i="1" dirty="0">
                <a:solidFill>
                  <a:srgbClr val="342F9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438080-EFF7-2898-0C71-B530F97610FC}"/>
              </a:ext>
            </a:extLst>
          </p:cNvPr>
          <p:cNvSpPr/>
          <p:nvPr/>
        </p:nvSpPr>
        <p:spPr>
          <a:xfrm>
            <a:off x="408926" y="583342"/>
            <a:ext cx="9983154" cy="57516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BE153A6-5047-AF81-960F-1D127D4AAB9B}"/>
              </a:ext>
            </a:extLst>
          </p:cNvPr>
          <p:cNvCxnSpPr/>
          <p:nvPr/>
        </p:nvCxnSpPr>
        <p:spPr>
          <a:xfrm>
            <a:off x="9649321" y="1473601"/>
            <a:ext cx="0" cy="43200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9FE8A57-1C40-B62B-0EEC-FD8CD248FB96}"/>
              </a:ext>
            </a:extLst>
          </p:cNvPr>
          <p:cNvSpPr txBox="1"/>
          <p:nvPr/>
        </p:nvSpPr>
        <p:spPr>
          <a:xfrm>
            <a:off x="9714311" y="3400972"/>
            <a:ext cx="564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QUIK</a:t>
            </a:r>
          </a:p>
          <a:p>
            <a:r>
              <a:rPr lang="ko-KR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</a:p>
        </p:txBody>
      </p:sp>
    </p:spTree>
    <p:extLst>
      <p:ext uri="{BB962C8B-B14F-4D97-AF65-F5344CB8AC3E}">
        <p14:creationId xmlns:p14="http://schemas.microsoft.com/office/powerpoint/2010/main" val="391667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1754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설계 공통 컴포넌트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순서도: 연결자 1"/>
          <p:cNvSpPr/>
          <p:nvPr/>
        </p:nvSpPr>
        <p:spPr>
          <a:xfrm>
            <a:off x="720329" y="1044005"/>
            <a:ext cx="720080" cy="72008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순서도: 연결자 21"/>
          <p:cNvSpPr/>
          <p:nvPr/>
        </p:nvSpPr>
        <p:spPr>
          <a:xfrm>
            <a:off x="1584425" y="1041462"/>
            <a:ext cx="720080" cy="72008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520529" y="104146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456633" y="1041462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44993" y="755973"/>
            <a:ext cx="11624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이미지</a:t>
            </a:r>
            <a:r>
              <a:rPr lang="en-US" altLang="ko-KR" sz="1000" b="1" i="1" u="sng" dirty="0">
                <a:latin typeface="맑은 고딕" panose="020B0503020000020004" pitchFamily="50" charset="-127"/>
              </a:rPr>
              <a:t>/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아이콘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3076" y="3124738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8067816" y="2804427"/>
            <a:ext cx="7216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6. </a:t>
            </a:r>
            <a:r>
              <a:rPr lang="ko-KR" altLang="en-US" sz="1000" b="1" i="1" u="sng" dirty="0" err="1">
                <a:latin typeface="맑은 고딕" panose="020B0503020000020004" pitchFamily="50" charset="-127"/>
              </a:rPr>
              <a:t>페이징</a:t>
            </a:r>
            <a:endParaRPr lang="ko-KR" altLang="en-US" sz="1000" b="1" i="1" u="sng" dirty="0">
              <a:latin typeface="맑은 고딕" panose="020B0503020000020004" pitchFamily="50" charset="-127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720329" y="3441736"/>
          <a:ext cx="2768144" cy="1269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1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컬럼명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3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615069" y="3162434"/>
            <a:ext cx="7216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3.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테이블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3819301" y="3429601"/>
          <a:ext cx="3938251" cy="197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필수입력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검색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/read</a:t>
                      </a:r>
                      <a:r>
                        <a:rPr lang="en-US" altLang="ko-KR" sz="800" b="0" spc="-1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only 1</a:t>
                      </a:r>
                      <a:endParaRPr lang="ko-KR" altLang="en-US" sz="800" b="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검색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/read</a:t>
                      </a:r>
                      <a:r>
                        <a:rPr lang="en-US" altLang="ko-KR" sz="800" b="0" spc="-15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only 2</a:t>
                      </a:r>
                      <a:endParaRPr lang="ko-KR" altLang="en-US" sz="800" b="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박스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읽기전용 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읽기전용 항목입니다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캘린더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</a:t>
                      </a:r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라디오 버튼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예        아니오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체크박스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□ 선택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□ 선택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  </a:t>
                      </a:r>
                      <a:r>
                        <a:rPr lang="ko-KR" altLang="en-US" sz="800" b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□ 선택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 </a:t>
                      </a:r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063880"/>
                  </a:ext>
                </a:extLst>
              </a:tr>
            </a:tbl>
          </a:graphicData>
        </a:graphic>
      </p:graphicFrame>
      <p:sp>
        <p:nvSpPr>
          <p:cNvPr id="43" name="모서리가 둥근 직사각형 42"/>
          <p:cNvSpPr/>
          <p:nvPr/>
        </p:nvSpPr>
        <p:spPr>
          <a:xfrm>
            <a:off x="4899421" y="3478416"/>
            <a:ext cx="2551716" cy="1638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2017-11-01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7477673" y="347841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45" name="모서리가 둥근 직사각형 44"/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6" name="Picture 4" descr="calendar, date, event, month icon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7" name="모서리가 둥근 직사각형 46"/>
          <p:cNvSpPr/>
          <p:nvPr/>
        </p:nvSpPr>
        <p:spPr>
          <a:xfrm>
            <a:off x="4898467" y="3720526"/>
            <a:ext cx="435695" cy="1552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7477747" y="3719565"/>
            <a:ext cx="142738" cy="156755"/>
            <a:chOff x="1739637" y="2749091"/>
            <a:chExt cx="144000" cy="158141"/>
          </a:xfrm>
          <a:solidFill>
            <a:schemeClr val="bg1"/>
          </a:solidFill>
        </p:grpSpPr>
        <p:sp>
          <p:nvSpPr>
            <p:cNvPr id="49" name="모서리가 둥근 직사각형 48"/>
            <p:cNvSpPr/>
            <p:nvPr/>
          </p:nvSpPr>
          <p:spPr>
            <a:xfrm>
              <a:off x="1739637" y="2749091"/>
              <a:ext cx="144000" cy="158141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0" name="Picture 2" descr="common, glass, lookup, magnifier, magnifying, magnifying glass, search, zoom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740" y="2770862"/>
              <a:ext cx="123781" cy="123781"/>
            </a:xfrm>
            <a:prstGeom prst="rect">
              <a:avLst/>
            </a:prstGeom>
            <a:grpFill/>
          </p:spPr>
        </p:pic>
      </p:grpSp>
      <p:sp>
        <p:nvSpPr>
          <p:cNvPr id="51" name="모서리가 둥근 직사각형 50"/>
          <p:cNvSpPr/>
          <p:nvPr/>
        </p:nvSpPr>
        <p:spPr>
          <a:xfrm>
            <a:off x="5364383" y="3720526"/>
            <a:ext cx="2088000" cy="1548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898467" y="4198496"/>
            <a:ext cx="2712028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7481080" y="4208888"/>
            <a:ext cx="155818" cy="15508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2" name="모서리가 둥근 직사각형 61"/>
          <p:cNvSpPr/>
          <p:nvPr/>
        </p:nvSpPr>
        <p:spPr>
          <a:xfrm>
            <a:off x="4895533" y="3962592"/>
            <a:ext cx="2555603" cy="15579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7488033" y="3976858"/>
            <a:ext cx="129762" cy="142505"/>
            <a:chOff x="1739637" y="2749091"/>
            <a:chExt cx="144000" cy="158141"/>
          </a:xfrm>
          <a:solidFill>
            <a:schemeClr val="bg1"/>
          </a:solidFill>
        </p:grpSpPr>
        <p:sp>
          <p:nvSpPr>
            <p:cNvPr id="64" name="모서리가 둥근 직사각형 63"/>
            <p:cNvSpPr/>
            <p:nvPr/>
          </p:nvSpPr>
          <p:spPr>
            <a:xfrm>
              <a:off x="1739637" y="2749091"/>
              <a:ext cx="144000" cy="158141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5" name="Picture 2" descr="common, glass, lookup, magnifier, magnifying, magnifying glass, search, zoom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740" y="2770862"/>
              <a:ext cx="123781" cy="123781"/>
            </a:xfrm>
            <a:prstGeom prst="rect">
              <a:avLst/>
            </a:prstGeom>
            <a:grpFill/>
          </p:spPr>
        </p:pic>
      </p:grpSp>
      <p:sp>
        <p:nvSpPr>
          <p:cNvPr id="66" name="모서리가 둥근 직사각형 65"/>
          <p:cNvSpPr/>
          <p:nvPr/>
        </p:nvSpPr>
        <p:spPr>
          <a:xfrm>
            <a:off x="4897959" y="4715371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2017-11-01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6339581" y="4715374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68" name="모서리가 둥근 직사각형 67"/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9" name="Picture 4" descr="calendar, date, event, month icon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70" name="모서리가 둥근 직사각형 69"/>
          <p:cNvSpPr/>
          <p:nvPr/>
        </p:nvSpPr>
        <p:spPr>
          <a:xfrm>
            <a:off x="5696041" y="4715371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2017-11-31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473300" y="4630247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" name="Picture 2" descr="on, radio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429" y="499058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off, radio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629" y="499058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직사각형 89"/>
          <p:cNvSpPr/>
          <p:nvPr/>
        </p:nvSpPr>
        <p:spPr>
          <a:xfrm>
            <a:off x="650578" y="2196133"/>
            <a:ext cx="7665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2.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구분 탭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3725104" y="3175928"/>
            <a:ext cx="14061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3-1.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테이블 컴포넌트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7921129" y="899989"/>
            <a:ext cx="0" cy="525658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8595280" y="2264387"/>
            <a:ext cx="396000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9904637" y="2264387"/>
            <a:ext cx="396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8047473" y="1979599"/>
            <a:ext cx="59343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5.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버튼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8153583" y="2264387"/>
            <a:ext cx="396000" cy="180000"/>
          </a:xfrm>
          <a:prstGeom prst="rect">
            <a:avLst/>
          </a:prstGeom>
          <a:solidFill>
            <a:srgbClr val="00589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상신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9033555" y="2264387"/>
            <a:ext cx="396000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9473001" y="2263986"/>
            <a:ext cx="39600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47DDB2D-3A8F-4147-B3A5-22B9612C3EB9}"/>
              </a:ext>
            </a:extLst>
          </p:cNvPr>
          <p:cNvSpPr/>
          <p:nvPr/>
        </p:nvSpPr>
        <p:spPr>
          <a:xfrm>
            <a:off x="744048" y="2442386"/>
            <a:ext cx="847424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Tab1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2615DA2-1E16-4D31-BD3F-7E4F40E8DC76}"/>
              </a:ext>
            </a:extLst>
          </p:cNvPr>
          <p:cNvSpPr/>
          <p:nvPr/>
        </p:nvSpPr>
        <p:spPr>
          <a:xfrm>
            <a:off x="1584425" y="2442386"/>
            <a:ext cx="847424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Tab2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24984B5-5E6C-4E53-846D-ECBAAF382808}"/>
              </a:ext>
            </a:extLst>
          </p:cNvPr>
          <p:cNvSpPr/>
          <p:nvPr/>
        </p:nvSpPr>
        <p:spPr>
          <a:xfrm>
            <a:off x="2431922" y="2442386"/>
            <a:ext cx="847424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Tab3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61D8DCC-51B4-461E-B31E-08513EF7E935}"/>
              </a:ext>
            </a:extLst>
          </p:cNvPr>
          <p:cNvCxnSpPr>
            <a:cxnSpLocks/>
          </p:cNvCxnSpPr>
          <p:nvPr/>
        </p:nvCxnSpPr>
        <p:spPr>
          <a:xfrm>
            <a:off x="744047" y="2802394"/>
            <a:ext cx="8458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모서리가 둥근 직사각형 113"/>
          <p:cNvSpPr/>
          <p:nvPr/>
        </p:nvSpPr>
        <p:spPr>
          <a:xfrm>
            <a:off x="8193520" y="4052159"/>
            <a:ext cx="2016224" cy="1764000"/>
          </a:xfrm>
          <a:prstGeom prst="roundRect">
            <a:avLst>
              <a:gd name="adj" fmla="val 2153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5" name="표 114"/>
          <p:cNvGraphicFramePr>
            <a:graphicFrameLocks noGrp="1"/>
          </p:cNvGraphicFramePr>
          <p:nvPr/>
        </p:nvGraphicFramePr>
        <p:xfrm>
          <a:off x="8358921" y="4462721"/>
          <a:ext cx="1672447" cy="116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29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30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31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8580541" y="4114335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2023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 rot="5400000">
            <a:off x="8171264" y="4152485"/>
            <a:ext cx="2984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 rot="16200000">
            <a:off x="9916524" y="4175275"/>
            <a:ext cx="2984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33205" y="5905451"/>
            <a:ext cx="33883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캘린터를 통해 날짜 선택 가능 </a:t>
            </a:r>
            <a:r>
              <a:rPr lang="en-US" altLang="ko-KR" sz="800" noProof="1">
                <a:latin typeface="맑은 고딕" pitchFamily="50" charset="-127"/>
                <a:cs typeface="Segoe UI" panose="020B0502040204020203" pitchFamily="34" charset="0"/>
              </a:rPr>
              <a:t>: </a:t>
            </a:r>
          </a:p>
          <a:p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날짜 클릭 시</a:t>
            </a:r>
            <a:r>
              <a:rPr lang="en-US" altLang="ko-KR" sz="800" noProof="1">
                <a:latin typeface="맑은 고딕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해당 날짜가 입력되면서 캘린더는 자동으로 닫힘</a:t>
            </a:r>
            <a:endParaRPr lang="ko-KR" altLang="en-US" sz="800" dirty="0"/>
          </a:p>
        </p:txBody>
      </p:sp>
      <p:graphicFrame>
        <p:nvGraphicFramePr>
          <p:cNvPr id="119" name="표 118"/>
          <p:cNvGraphicFramePr>
            <a:graphicFrameLocks noGrp="1"/>
          </p:cNvGraphicFramePr>
          <p:nvPr/>
        </p:nvGraphicFramePr>
        <p:xfrm>
          <a:off x="8117596" y="1163388"/>
          <a:ext cx="3938251" cy="493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파일첨부</a:t>
                      </a:r>
                      <a:endParaRPr lang="ko-KR" altLang="en-US" sz="800" b="0" spc="-15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파일첨부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직사각형 119"/>
          <p:cNvSpPr/>
          <p:nvPr/>
        </p:nvSpPr>
        <p:spPr>
          <a:xfrm>
            <a:off x="8051901" y="821710"/>
            <a:ext cx="8499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4.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파일첨부</a:t>
            </a: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9188628" y="1212912"/>
            <a:ext cx="1800000" cy="1638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1530426" y="1196724"/>
            <a:ext cx="396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1084834" y="1196724"/>
            <a:ext cx="396000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132484" y="1418967"/>
            <a:ext cx="8451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u="sng" dirty="0">
                <a:solidFill>
                  <a:srgbClr val="006CB7"/>
                </a:solidFill>
                <a:latin typeface="맑은 고딕" panose="020B0503020000020004" pitchFamily="50" charset="-127"/>
              </a:rPr>
              <a:t>File 12345.xml</a:t>
            </a:r>
            <a:endParaRPr lang="ko-KR" altLang="en-US" sz="800" u="sng" dirty="0">
              <a:solidFill>
                <a:srgbClr val="006CB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9940554" y="1436689"/>
            <a:ext cx="396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8108196" y="3725600"/>
            <a:ext cx="10230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7.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캘린더 출력</a:t>
            </a:r>
          </a:p>
        </p:txBody>
      </p:sp>
      <p:cxnSp>
        <p:nvCxnSpPr>
          <p:cNvPr id="13" name="꺾인 연결선 12"/>
          <p:cNvCxnSpPr>
            <a:stCxn id="45" idx="3"/>
            <a:endCxn id="114" idx="1"/>
          </p:cNvCxnSpPr>
          <p:nvPr/>
        </p:nvCxnSpPr>
        <p:spPr>
          <a:xfrm>
            <a:off x="7643216" y="3555367"/>
            <a:ext cx="550304" cy="13787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0837684" y="4028661"/>
            <a:ext cx="1080000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전체</a:t>
            </a: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11911843" y="4028661"/>
            <a:ext cx="155818" cy="180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0837682" y="4252331"/>
            <a:ext cx="1229978" cy="20467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10837683" y="4214468"/>
            <a:ext cx="1229977" cy="109280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10729441" y="3725600"/>
            <a:ext cx="17540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8. </a:t>
            </a:r>
            <a:r>
              <a:rPr lang="ko-KR" altLang="en-US" sz="1000" b="1" i="1" u="sng" dirty="0" err="1">
                <a:latin typeface="맑은 고딕" panose="020B0503020000020004" pitchFamily="50" charset="-127"/>
              </a:rPr>
              <a:t>셀렉트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 박스 리스트 출력</a:t>
            </a:r>
          </a:p>
        </p:txBody>
      </p:sp>
      <p:graphicFrame>
        <p:nvGraphicFramePr>
          <p:cNvPr id="131" name="표 130"/>
          <p:cNvGraphicFramePr>
            <a:graphicFrameLocks noGrp="1"/>
          </p:cNvGraphicFramePr>
          <p:nvPr/>
        </p:nvGraphicFramePr>
        <p:xfrm>
          <a:off x="707587" y="5473169"/>
          <a:ext cx="2768144" cy="72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5384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" name="직사각형 131"/>
          <p:cNvSpPr/>
          <p:nvPr/>
        </p:nvSpPr>
        <p:spPr>
          <a:xfrm>
            <a:off x="602327" y="5193867"/>
            <a:ext cx="248337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3-2.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테이블 내 검색 데이터가 없을 경우</a:t>
            </a:r>
          </a:p>
        </p:txBody>
      </p:sp>
    </p:spTree>
    <p:extLst>
      <p:ext uri="{BB962C8B-B14F-4D97-AF65-F5344CB8AC3E}">
        <p14:creationId xmlns:p14="http://schemas.microsoft.com/office/powerpoint/2010/main" val="372234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1754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 설계 공통 컴포넌트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_2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794915" y="25081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99275" y="276485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157038" y="2457041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기본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157037" y="2713749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디테일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776CCA-8C3F-4849-9D31-960B3C95939D}"/>
              </a:ext>
            </a:extLst>
          </p:cNvPr>
          <p:cNvSpPr/>
          <p:nvPr/>
        </p:nvSpPr>
        <p:spPr>
          <a:xfrm>
            <a:off x="755857" y="4015246"/>
            <a:ext cx="3600000" cy="176400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ea typeface="+mn-ea"/>
              </a:rPr>
              <a:t>▼ 다음 페이지 이어짐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/>
        </p:nvSpPr>
        <p:spPr>
          <a:xfrm>
            <a:off x="753467" y="3774810"/>
            <a:ext cx="3600000" cy="175340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 이어짐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72089" y="2196133"/>
            <a:ext cx="13981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10.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화면 설명 넘버링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48321" y="3480174"/>
            <a:ext cx="20120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11.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이전</a:t>
            </a:r>
            <a:r>
              <a:rPr lang="en-US" altLang="ko-KR" sz="1000" b="1" i="1" u="sng" dirty="0">
                <a:latin typeface="맑은 고딕" panose="020B0503020000020004" pitchFamily="50" charset="-127"/>
              </a:rPr>
              <a:t>/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다음 페이지 연결 표기</a:t>
            </a:r>
          </a:p>
        </p:txBody>
      </p:sp>
      <p:grpSp>
        <p:nvGrpSpPr>
          <p:cNvPr id="52" name="Scrollbar">
            <a:extLst>
              <a:ext uri="{FF2B5EF4-FFF2-40B4-BE49-F238E27FC236}">
                <a16:creationId xmlns:a16="http://schemas.microsoft.com/office/drawing/2014/main" id="{7756BACB-F2FC-4CB1-BB8B-9152C3BDEBA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363855" y="3263041"/>
            <a:ext cx="164592" cy="3064477"/>
            <a:chOff x="509691" y="368445"/>
            <a:chExt cx="164592" cy="3064477"/>
          </a:xfrm>
        </p:grpSpPr>
        <p:sp>
          <p:nvSpPr>
            <p:cNvPr id="55" name="Track">
              <a:extLst>
                <a:ext uri="{FF2B5EF4-FFF2-40B4-BE49-F238E27FC236}">
                  <a16:creationId xmlns:a16="http://schemas.microsoft.com/office/drawing/2014/main" id="{13194A95-55FA-4609-A621-7629AEBEF98F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509692" y="699247"/>
              <a:ext cx="164591" cy="240317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6" name="Scroll Thumb">
              <a:extLst>
                <a:ext uri="{FF2B5EF4-FFF2-40B4-BE49-F238E27FC236}">
                  <a16:creationId xmlns:a16="http://schemas.microsoft.com/office/drawing/2014/main" id="{327AA580-3C58-4AAC-8BE0-E2AC93730660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509692" y="702123"/>
              <a:ext cx="164590" cy="150782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7" name="Button Down">
              <a:extLst>
                <a:ext uri="{FF2B5EF4-FFF2-40B4-BE49-F238E27FC236}">
                  <a16:creationId xmlns:a16="http://schemas.microsoft.com/office/drawing/2014/main" id="{D1F50FD6-40D8-4124-8034-D0E6373A4416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509692" y="3102120"/>
              <a:ext cx="164590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8" name="Arrow Down">
              <a:extLst>
                <a:ext uri="{FF2B5EF4-FFF2-40B4-BE49-F238E27FC236}">
                  <a16:creationId xmlns:a16="http://schemas.microsoft.com/office/drawing/2014/main" id="{EF51D8B7-8160-482D-917A-7609E261D3AA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>
              <a:off x="533346" y="3169987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59" name="Button Up">
              <a:extLst>
                <a:ext uri="{FF2B5EF4-FFF2-40B4-BE49-F238E27FC236}">
                  <a16:creationId xmlns:a16="http://schemas.microsoft.com/office/drawing/2014/main" id="{C4D98E99-FF19-4187-A710-800A031B0D33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509691" y="368445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60" name="Arrow Up">
              <a:extLst>
                <a:ext uri="{FF2B5EF4-FFF2-40B4-BE49-F238E27FC236}">
                  <a16:creationId xmlns:a16="http://schemas.microsoft.com/office/drawing/2014/main" id="{C826EFEA-4FE3-4D8D-89DC-5B44890A9EAE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rot="10800000">
              <a:off x="533346" y="533846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grpSp>
        <p:nvGrpSpPr>
          <p:cNvPr id="61" name="Scrollbar">
            <a:extLst>
              <a:ext uri="{FF2B5EF4-FFF2-40B4-BE49-F238E27FC236}">
                <a16:creationId xmlns:a16="http://schemas.microsoft.com/office/drawing/2014/main" id="{320769C0-6352-47E2-AD1D-293012870FD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185920" y="3263932"/>
            <a:ext cx="3064477" cy="165401"/>
            <a:chOff x="2777219" y="2488062"/>
            <a:chExt cx="3064477" cy="164594"/>
          </a:xfrm>
        </p:grpSpPr>
        <p:sp>
          <p:nvSpPr>
            <p:cNvPr id="72" name="Track">
              <a:extLst>
                <a:ext uri="{FF2B5EF4-FFF2-40B4-BE49-F238E27FC236}">
                  <a16:creationId xmlns:a16="http://schemas.microsoft.com/office/drawing/2014/main" id="{6789FCB4-61D7-4ACB-8705-F52A84342109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 rot="5400000">
              <a:off x="4227011" y="1368771"/>
              <a:ext cx="164591" cy="240317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3" name="Scroll Thumb">
              <a:extLst>
                <a:ext uri="{FF2B5EF4-FFF2-40B4-BE49-F238E27FC236}">
                  <a16:creationId xmlns:a16="http://schemas.microsoft.com/office/drawing/2014/main" id="{94E4E2DE-628D-4FE4-AB6D-F67F4619E28A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 rot="5400000">
              <a:off x="3939403" y="1656378"/>
              <a:ext cx="164593" cy="182796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4" name="Button Down">
              <a:extLst>
                <a:ext uri="{FF2B5EF4-FFF2-40B4-BE49-F238E27FC236}">
                  <a16:creationId xmlns:a16="http://schemas.microsoft.com/office/drawing/2014/main" id="{E05F3B82-5AB5-4A8E-AA28-CACB5174A2F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 rot="5400000">
              <a:off x="2860325" y="2404957"/>
              <a:ext cx="164590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5" name="Arrow Down">
              <a:extLst>
                <a:ext uri="{FF2B5EF4-FFF2-40B4-BE49-F238E27FC236}">
                  <a16:creationId xmlns:a16="http://schemas.microsoft.com/office/drawing/2014/main" id="{5801DA5D-D392-4045-A351-D85BB2134FC7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 rot="5400000">
              <a:off x="2932745" y="2521591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6" name="Button Up">
              <a:extLst>
                <a:ext uri="{FF2B5EF4-FFF2-40B4-BE49-F238E27FC236}">
                  <a16:creationId xmlns:a16="http://schemas.microsoft.com/office/drawing/2014/main" id="{E6A20A22-8FBE-4118-BA89-B72513CC7825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 rot="5400000">
              <a:off x="5593999" y="2404957"/>
              <a:ext cx="164592" cy="3308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  <p:sp>
          <p:nvSpPr>
            <p:cNvPr id="77" name="Arrow Up">
              <a:extLst>
                <a:ext uri="{FF2B5EF4-FFF2-40B4-BE49-F238E27FC236}">
                  <a16:creationId xmlns:a16="http://schemas.microsoft.com/office/drawing/2014/main" id="{A0366051-BB4E-476A-8202-83126DA5FBF8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rot="16200000">
              <a:off x="5568886" y="2521591"/>
              <a:ext cx="117283" cy="97534"/>
            </a:xfrm>
            <a:custGeom>
              <a:avLst/>
              <a:gdLst>
                <a:gd name="T0" fmla="*/ 58 w 116"/>
                <a:gd name="T1" fmla="*/ 61 h 105"/>
                <a:gd name="T2" fmla="*/ 71 w 116"/>
                <a:gd name="T3" fmla="*/ 48 h 105"/>
                <a:gd name="T4" fmla="*/ 116 w 116"/>
                <a:gd name="T5" fmla="*/ 0 h 105"/>
                <a:gd name="T6" fmla="*/ 116 w 116"/>
                <a:gd name="T7" fmla="*/ 43 h 105"/>
                <a:gd name="T8" fmla="*/ 58 w 116"/>
                <a:gd name="T9" fmla="*/ 105 h 105"/>
                <a:gd name="T10" fmla="*/ 0 w 116"/>
                <a:gd name="T11" fmla="*/ 43 h 105"/>
                <a:gd name="T12" fmla="*/ 0 w 116"/>
                <a:gd name="T13" fmla="*/ 0 h 105"/>
                <a:gd name="T14" fmla="*/ 45 w 116"/>
                <a:gd name="T15" fmla="*/ 48 h 105"/>
                <a:gd name="T16" fmla="*/ 58 w 116"/>
                <a:gd name="T17" fmla="*/ 6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05">
                  <a:moveTo>
                    <a:pt x="58" y="61"/>
                  </a:moveTo>
                  <a:lnTo>
                    <a:pt x="71" y="48"/>
                  </a:lnTo>
                  <a:lnTo>
                    <a:pt x="116" y="0"/>
                  </a:lnTo>
                  <a:lnTo>
                    <a:pt x="116" y="43"/>
                  </a:lnTo>
                  <a:lnTo>
                    <a:pt x="58" y="105"/>
                  </a:lnTo>
                  <a:lnTo>
                    <a:pt x="0" y="43"/>
                  </a:lnTo>
                  <a:lnTo>
                    <a:pt x="0" y="0"/>
                  </a:lnTo>
                  <a:lnTo>
                    <a:pt x="45" y="48"/>
                  </a:lnTo>
                  <a:lnTo>
                    <a:pt x="58" y="6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900">
                <a:solidFill>
                  <a:srgbClr val="262626"/>
                </a:solidFill>
                <a:latin typeface="+mn-ea"/>
                <a:cs typeface="Segoe UI" pitchFamily="34" charset="0"/>
              </a:endParaRPr>
            </a:p>
          </p:txBody>
        </p:sp>
      </p:grpSp>
      <p:sp>
        <p:nvSpPr>
          <p:cNvPr id="78" name="직사각형 77"/>
          <p:cNvSpPr/>
          <p:nvPr/>
        </p:nvSpPr>
        <p:spPr>
          <a:xfrm>
            <a:off x="5057651" y="2950145"/>
            <a:ext cx="14093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14.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가로</a:t>
            </a:r>
            <a:r>
              <a:rPr lang="en-US" altLang="ko-KR" sz="1000" b="1" i="1" u="sng" dirty="0">
                <a:latin typeface="맑은 고딕" panose="020B0503020000020004" pitchFamily="50" charset="-127"/>
              </a:rPr>
              <a:t>/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세로 스크롤</a:t>
            </a:r>
          </a:p>
        </p:txBody>
      </p:sp>
      <p:pic>
        <p:nvPicPr>
          <p:cNvPr id="79" name="Picture 2" descr="info icon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52" y="1625008"/>
            <a:ext cx="110072" cy="11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모서리가 둥근 직사각형 79"/>
          <p:cNvSpPr/>
          <p:nvPr/>
        </p:nvSpPr>
        <p:spPr>
          <a:xfrm>
            <a:off x="765600" y="1148143"/>
            <a:ext cx="2135808" cy="446871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7313" indent="-87313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툴팁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설명입니다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72089" y="795748"/>
            <a:ext cx="8435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9. Tool Tip</a:t>
            </a:r>
            <a:endParaRPr lang="ko-KR" altLang="en-US" sz="1000" b="1" i="1" u="sng" dirty="0">
              <a:latin typeface="맑은 고딕" panose="020B0503020000020004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670864" y="1154587"/>
            <a:ext cx="25519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57512" y="4618405"/>
            <a:ext cx="998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12. Text Area</a:t>
            </a:r>
            <a:endParaRPr lang="ko-KR" altLang="en-US" sz="1000" b="1" i="1" u="sng" dirty="0">
              <a:latin typeface="맑은 고딕" panose="020B0503020000020004" pitchFamily="50" charset="-127"/>
            </a:endParaRPr>
          </a:p>
        </p:txBody>
      </p:sp>
      <p:sp>
        <p:nvSpPr>
          <p:cNvPr id="95" name="Rectangle 176" descr="type=input"/>
          <p:cNvSpPr>
            <a:spLocks noChangeArrowheads="1"/>
          </p:cNvSpPr>
          <p:nvPr/>
        </p:nvSpPr>
        <p:spPr bwMode="auto">
          <a:xfrm>
            <a:off x="745251" y="5000984"/>
            <a:ext cx="3608215" cy="539750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5031234" y="795748"/>
            <a:ext cx="109677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13. 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에디터 영역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5118973" y="1093989"/>
            <a:ext cx="3608215" cy="1606417"/>
            <a:chOff x="6455871" y="1056334"/>
            <a:chExt cx="3608215" cy="1606417"/>
          </a:xfrm>
        </p:grpSpPr>
        <p:sp>
          <p:nvSpPr>
            <p:cNvPr id="97" name="Rectangle 176" descr="type=input"/>
            <p:cNvSpPr>
              <a:spLocks noChangeArrowheads="1"/>
            </p:cNvSpPr>
            <p:nvPr/>
          </p:nvSpPr>
          <p:spPr bwMode="auto">
            <a:xfrm>
              <a:off x="6455871" y="1056334"/>
              <a:ext cx="3608215" cy="16064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lIns="36000" rIns="36000" anchor="ctr"/>
            <a:lstStyle/>
            <a:p>
              <a:endPara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43CB6E4E-6ED3-4D10-9538-69572D39A6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l="1551" t="8568" r="1378" b="10087"/>
            <a:stretch/>
          </p:blipFill>
          <p:spPr>
            <a:xfrm>
              <a:off x="6480524" y="1085377"/>
              <a:ext cx="3583561" cy="252556"/>
            </a:xfrm>
            <a:prstGeom prst="rect">
              <a:avLst/>
            </a:prstGeom>
          </p:spPr>
        </p:pic>
      </p:grpSp>
      <p:cxnSp>
        <p:nvCxnSpPr>
          <p:cNvPr id="99" name="직선 연결선 98"/>
          <p:cNvCxnSpPr/>
          <p:nvPr/>
        </p:nvCxnSpPr>
        <p:spPr>
          <a:xfrm>
            <a:off x="4824785" y="899989"/>
            <a:ext cx="0" cy="525658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951CD4F-FBA1-4A69-AF61-D025D79CD9E1}"/>
              </a:ext>
            </a:extLst>
          </p:cNvPr>
          <p:cNvSpPr/>
          <p:nvPr/>
        </p:nvSpPr>
        <p:spPr bwMode="auto">
          <a:xfrm>
            <a:off x="9721329" y="1125456"/>
            <a:ext cx="2388154" cy="432048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변경내용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B42408-0A92-433D-86DC-DF3F20F182C2}"/>
              </a:ext>
            </a:extLst>
          </p:cNvPr>
          <p:cNvSpPr/>
          <p:nvPr/>
        </p:nvSpPr>
        <p:spPr bwMode="auto">
          <a:xfrm>
            <a:off x="9721329" y="1550495"/>
            <a:ext cx="2388154" cy="432048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변경내용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6011930-2235-4457-B99E-D1AF238BD9AC}"/>
              </a:ext>
            </a:extLst>
          </p:cNvPr>
          <p:cNvSpPr/>
          <p:nvPr/>
        </p:nvSpPr>
        <p:spPr bwMode="auto">
          <a:xfrm>
            <a:off x="9721329" y="1979143"/>
            <a:ext cx="2388154" cy="432048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변경내용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F0EA98-B453-497D-8648-65DA07055012}"/>
              </a:ext>
            </a:extLst>
          </p:cNvPr>
          <p:cNvSpPr/>
          <p:nvPr/>
        </p:nvSpPr>
        <p:spPr bwMode="auto">
          <a:xfrm>
            <a:off x="9721329" y="2396288"/>
            <a:ext cx="2388154" cy="432048"/>
          </a:xfrm>
          <a:prstGeom prst="rect">
            <a:avLst/>
          </a:prstGeom>
          <a:solidFill>
            <a:srgbClr val="1F49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변경내용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17F9D8E-6DB6-4666-B35F-5E35F733EFCC}"/>
              </a:ext>
            </a:extLst>
          </p:cNvPr>
          <p:cNvSpPr/>
          <p:nvPr/>
        </p:nvSpPr>
        <p:spPr bwMode="auto">
          <a:xfrm>
            <a:off x="9721329" y="2817112"/>
            <a:ext cx="2388154" cy="4320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변경내용</a:t>
            </a:r>
          </a:p>
        </p:txBody>
      </p:sp>
      <p:sp>
        <p:nvSpPr>
          <p:cNvPr id="43" name="화살표: 아래쪽 8">
            <a:extLst>
              <a:ext uri="{FF2B5EF4-FFF2-40B4-BE49-F238E27FC236}">
                <a16:creationId xmlns:a16="http://schemas.microsoft.com/office/drawing/2014/main" id="{DE7F5E9F-C971-413E-B6E0-A9F6E8A22B7A}"/>
              </a:ext>
            </a:extLst>
          </p:cNvPr>
          <p:cNvSpPr/>
          <p:nvPr/>
        </p:nvSpPr>
        <p:spPr>
          <a:xfrm>
            <a:off x="12216098" y="1130720"/>
            <a:ext cx="214581" cy="2118439"/>
          </a:xfrm>
          <a:prstGeom prst="downArrow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9361289" y="881848"/>
            <a:ext cx="0" cy="525658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9635236" y="799385"/>
            <a:ext cx="12250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u="sng" dirty="0">
                <a:latin typeface="맑은 고딕" panose="020B0503020000020004" pitchFamily="50" charset="-127"/>
              </a:rPr>
              <a:t>15. </a:t>
            </a:r>
            <a:r>
              <a:rPr lang="ko-KR" altLang="en-US" sz="1000" b="1" i="1" u="sng" dirty="0" err="1">
                <a:latin typeface="맑은 고딕" panose="020B0503020000020004" pitchFamily="50" charset="-127"/>
              </a:rPr>
              <a:t>히스토리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 관리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E41674-18DD-4C5C-9960-2A0068328BEC}"/>
              </a:ext>
            </a:extLst>
          </p:cNvPr>
          <p:cNvSpPr txBox="1"/>
          <p:nvPr/>
        </p:nvSpPr>
        <p:spPr>
          <a:xfrm>
            <a:off x="9593865" y="3346630"/>
            <a:ext cx="2418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0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0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0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표현</a:t>
            </a:r>
            <a:endParaRPr lang="en-US" altLang="ko-KR" sz="1000" spc="-15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000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화면설계서</a:t>
            </a:r>
            <a:r>
              <a:rPr lang="ko-KR" altLang="en-US" sz="10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우측 상단에 위치</a:t>
            </a:r>
          </a:p>
        </p:txBody>
      </p:sp>
    </p:spTree>
    <p:extLst>
      <p:ext uri="{BB962C8B-B14F-4D97-AF65-F5344CB8AC3E}">
        <p14:creationId xmlns:p14="http://schemas.microsoft.com/office/powerpoint/2010/main" val="194200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1367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 설계 공통 팝업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899346" y="1116013"/>
            <a:ext cx="1800000" cy="944488"/>
            <a:chOff x="432297" y="747589"/>
            <a:chExt cx="1800000" cy="944488"/>
          </a:xfrm>
        </p:grpSpPr>
        <p:sp>
          <p:nvSpPr>
            <p:cNvPr id="10" name="직사각형 9"/>
            <p:cNvSpPr/>
            <p:nvPr/>
          </p:nvSpPr>
          <p:spPr>
            <a:xfrm>
              <a:off x="432297" y="899989"/>
              <a:ext cx="1800000" cy="7920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32297" y="747589"/>
              <a:ext cx="1800000" cy="152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b="1" dirty="0">
                  <a:solidFill>
                    <a:schemeClr val="bg1"/>
                  </a:solidFill>
                </a:rPr>
                <a:t>메시지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1750229" y="1808493"/>
            <a:ext cx="396000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95490" y="1808493"/>
            <a:ext cx="396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2771554" y="1116013"/>
            <a:ext cx="1800000" cy="944488"/>
            <a:chOff x="432297" y="747589"/>
            <a:chExt cx="1800000" cy="944488"/>
          </a:xfrm>
        </p:grpSpPr>
        <p:sp>
          <p:nvSpPr>
            <p:cNvPr id="16" name="직사각형 15"/>
            <p:cNvSpPr/>
            <p:nvPr/>
          </p:nvSpPr>
          <p:spPr>
            <a:xfrm>
              <a:off x="432297" y="899989"/>
              <a:ext cx="1800000" cy="7920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32297" y="747589"/>
              <a:ext cx="1800000" cy="152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b="1" dirty="0">
                  <a:solidFill>
                    <a:schemeClr val="bg1"/>
                  </a:solidFill>
                </a:rPr>
                <a:t>메시지</a:t>
              </a: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4067233" y="1808493"/>
            <a:ext cx="396000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20" name="십자형 19"/>
          <p:cNvSpPr/>
          <p:nvPr/>
        </p:nvSpPr>
        <p:spPr>
          <a:xfrm rot="2700000">
            <a:off x="2519490" y="1120213"/>
            <a:ext cx="144000" cy="144000"/>
          </a:xfrm>
          <a:prstGeom prst="plus">
            <a:avLst>
              <a:gd name="adj" fmla="val 426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십자형 20"/>
          <p:cNvSpPr/>
          <p:nvPr/>
        </p:nvSpPr>
        <p:spPr>
          <a:xfrm rot="2700000">
            <a:off x="4391233" y="1112519"/>
            <a:ext cx="144000" cy="144000"/>
          </a:xfrm>
          <a:prstGeom prst="plus">
            <a:avLst>
              <a:gd name="adj" fmla="val 426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44993" y="755973"/>
            <a:ext cx="13452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000" b="1" i="1" u="sng" dirty="0">
                <a:latin typeface="맑은 고딕" panose="020B0503020000020004" pitchFamily="50" charset="-127"/>
              </a:rPr>
              <a:t>메시지 </a:t>
            </a:r>
            <a:r>
              <a:rPr lang="ko-KR" altLang="en-US" sz="1000" b="1" i="1" u="sng" dirty="0" err="1">
                <a:latin typeface="맑은 고딕" panose="020B0503020000020004" pitchFamily="50" charset="-127"/>
              </a:rPr>
              <a:t>얼럿</a:t>
            </a:r>
            <a:r>
              <a:rPr lang="ko-KR" altLang="en-US" sz="1000" b="1" i="1" u="sng" dirty="0">
                <a:latin typeface="맑은 고딕" panose="020B0503020000020004" pitchFamily="50" charset="-127"/>
              </a:rPr>
              <a:t> 팝업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296393" y="1449013"/>
            <a:ext cx="105189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삭제하시겠습니까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904944" y="1466943"/>
            <a:ext cx="147508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정상적으로 처리되었습니다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819833" y="1116013"/>
            <a:ext cx="2772000" cy="2376264"/>
          </a:xfrm>
          <a:prstGeom prst="roundRect">
            <a:avLst>
              <a:gd name="adj" fmla="val 3179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rtlCol="0" anchor="t"/>
          <a:lstStyle/>
          <a:p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임직원 검색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881716" y="1389603"/>
            <a:ext cx="2664000" cy="1964183"/>
          </a:xfrm>
          <a:prstGeom prst="roundRect">
            <a:avLst>
              <a:gd name="adj" fmla="val 2369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십자형 34"/>
          <p:cNvSpPr/>
          <p:nvPr/>
        </p:nvSpPr>
        <p:spPr>
          <a:xfrm rot="2700000">
            <a:off x="8361143" y="1193118"/>
            <a:ext cx="144000" cy="144000"/>
          </a:xfrm>
          <a:prstGeom prst="plus">
            <a:avLst>
              <a:gd name="adj" fmla="val 426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946214" y="1452786"/>
            <a:ext cx="252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8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6019971" y="1518525"/>
            <a:ext cx="540000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6684000" y="1512892"/>
            <a:ext cx="1255891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6467921" y="1518525"/>
            <a:ext cx="144000" cy="162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79369"/>
              </p:ext>
            </p:extLst>
          </p:nvPr>
        </p:nvGraphicFramePr>
        <p:xfrm>
          <a:off x="5949194" y="1980654"/>
          <a:ext cx="2517019" cy="95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56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개인번호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사무소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12345678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급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12345678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고길동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12345678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고길동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12345678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고길동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12345678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고길동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과장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517182"/>
                  </a:ext>
                </a:extLst>
              </a:tr>
            </a:tbl>
          </a:graphicData>
        </a:graphic>
      </p:graphicFrame>
      <p:sp>
        <p:nvSpPr>
          <p:cNvPr id="51" name="직사각형 50"/>
          <p:cNvSpPr/>
          <p:nvPr/>
        </p:nvSpPr>
        <p:spPr>
          <a:xfrm>
            <a:off x="8009034" y="1512892"/>
            <a:ext cx="392727" cy="16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638313" y="3069021"/>
            <a:ext cx="396000" cy="1229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8077662" y="3060229"/>
            <a:ext cx="396000" cy="1229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8749529" y="1116013"/>
            <a:ext cx="2772000" cy="2015263"/>
          </a:xfrm>
          <a:prstGeom prst="roundRect">
            <a:avLst>
              <a:gd name="adj" fmla="val 3179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rtlCol="0" anchor="t"/>
          <a:lstStyle/>
          <a:p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임직원 검색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8811412" y="1389603"/>
            <a:ext cx="2664000" cy="1665785"/>
          </a:xfrm>
          <a:prstGeom prst="roundRect">
            <a:avLst>
              <a:gd name="adj" fmla="val 2369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십자형 61"/>
          <p:cNvSpPr/>
          <p:nvPr/>
        </p:nvSpPr>
        <p:spPr>
          <a:xfrm rot="2700000">
            <a:off x="11290839" y="1193118"/>
            <a:ext cx="144000" cy="144000"/>
          </a:xfrm>
          <a:prstGeom prst="plus">
            <a:avLst>
              <a:gd name="adj" fmla="val 426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875910" y="1452786"/>
            <a:ext cx="252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8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931309" y="1526756"/>
            <a:ext cx="392727" cy="16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0568009" y="2871195"/>
            <a:ext cx="396000" cy="1229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11007358" y="2862403"/>
            <a:ext cx="396000" cy="1229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8893455" y="1965292"/>
          <a:ext cx="2516584" cy="827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모서리가 둥근 직사각형 70"/>
          <p:cNvSpPr/>
          <p:nvPr/>
        </p:nvSpPr>
        <p:spPr>
          <a:xfrm>
            <a:off x="9613535" y="1520477"/>
            <a:ext cx="1255891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12345678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8945053" y="1512892"/>
            <a:ext cx="540000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개인번호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9393003" y="1512892"/>
            <a:ext cx="144000" cy="162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829732" y="3714276"/>
            <a:ext cx="3865800" cy="2015263"/>
          </a:xfrm>
          <a:prstGeom prst="roundRect">
            <a:avLst>
              <a:gd name="adj" fmla="val 3179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rtlCol="0" anchor="t"/>
          <a:lstStyle/>
          <a:p>
            <a:r>
              <a:rPr lang="ko-KR" altLang="en-US" sz="10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임직원 검색</a:t>
            </a:r>
          </a:p>
        </p:txBody>
      </p:sp>
      <p:sp>
        <p:nvSpPr>
          <p:cNvPr id="75" name="모서리가 둥근 직사각형 74"/>
          <p:cNvSpPr/>
          <p:nvPr/>
        </p:nvSpPr>
        <p:spPr>
          <a:xfrm>
            <a:off x="5891614" y="3987866"/>
            <a:ext cx="3731819" cy="1665785"/>
          </a:xfrm>
          <a:prstGeom prst="roundRect">
            <a:avLst>
              <a:gd name="adj" fmla="val 2369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십자형 75"/>
          <p:cNvSpPr/>
          <p:nvPr/>
        </p:nvSpPr>
        <p:spPr>
          <a:xfrm rot="2700000">
            <a:off x="9449700" y="3791381"/>
            <a:ext cx="144000" cy="144000"/>
          </a:xfrm>
          <a:prstGeom prst="plus">
            <a:avLst>
              <a:gd name="adj" fmla="val 426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956112" y="4051049"/>
            <a:ext cx="359078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8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7087358" y="4116788"/>
            <a:ext cx="720000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</a:p>
        </p:txBody>
      </p:sp>
      <p:sp>
        <p:nvSpPr>
          <p:cNvPr id="79" name="모서리가 둥근 직사각형 78"/>
          <p:cNvSpPr/>
          <p:nvPr/>
        </p:nvSpPr>
        <p:spPr>
          <a:xfrm>
            <a:off x="7912726" y="4114049"/>
            <a:ext cx="1126800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7679324" y="4116788"/>
            <a:ext cx="144000" cy="162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6029890" y="4120236"/>
            <a:ext cx="900000" cy="16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 선택</a:t>
            </a:r>
          </a:p>
        </p:txBody>
      </p:sp>
      <p:sp>
        <p:nvSpPr>
          <p:cNvPr id="97" name="모서리가 둥근 직사각형 96"/>
          <p:cNvSpPr/>
          <p:nvPr/>
        </p:nvSpPr>
        <p:spPr>
          <a:xfrm>
            <a:off x="6887236" y="4120236"/>
            <a:ext cx="144000" cy="162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9086781" y="4114049"/>
            <a:ext cx="392727" cy="16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9" name="표 98"/>
          <p:cNvGraphicFramePr>
            <a:graphicFrameLocks noGrp="1"/>
          </p:cNvGraphicFramePr>
          <p:nvPr/>
        </p:nvGraphicFramePr>
        <p:xfrm>
          <a:off x="5965323" y="4460797"/>
          <a:ext cx="3581578" cy="827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0" name="직사각형 99"/>
          <p:cNvSpPr/>
          <p:nvPr/>
        </p:nvSpPr>
        <p:spPr>
          <a:xfrm>
            <a:off x="8711552" y="5413865"/>
            <a:ext cx="396000" cy="12294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9150901" y="5405073"/>
            <a:ext cx="396000" cy="1229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5735246" y="752949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000" b="1" i="1" u="sng" dirty="0">
                <a:latin typeface="맑은 고딕" panose="020B0503020000020004" pitchFamily="50" charset="-127"/>
              </a:rPr>
              <a:t>검색용 팝업</a:t>
            </a:r>
          </a:p>
        </p:txBody>
      </p:sp>
    </p:spTree>
    <p:extLst>
      <p:ext uri="{BB962C8B-B14F-4D97-AF65-F5344CB8AC3E}">
        <p14:creationId xmlns:p14="http://schemas.microsoft.com/office/powerpoint/2010/main" val="38364944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10"/>
  <p:tag name="MINHEIGHT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ABLESMARTRESIZE" val="True"/>
  <p:tag name="MINWIDTH" val="60"/>
  <p:tag name="MINHEIGHT" val="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BOTTOM" val="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None"/>
  <p:tag name="ANCHORBOTTOM" val="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None"/>
  <p:tag name="ANCHORRIGHT" val="None"/>
  <p:tag name="ANCHORBOTTOM" val="No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None"/>
  <p:tag name="ANCHORRIGHT" val="Absolute"/>
  <p:tag name="ANCHORBOTTOM" val="No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Absolu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None"/>
  <p:tag name="ANCHORRIGHT" val="Absolute"/>
  <p:tag name="ANCHORBOTTOM" val="Absolu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None"/>
  <p:tag name="ANCHORRIGHT" val="None"/>
  <p:tag name="ANCHORBOTTOM" val="Absolu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Absolute"/>
  <p:tag name="ANCHORTOP" val="Absolute"/>
  <p:tag name="ANCHORRIGHT" val="Absolute"/>
  <p:tag name="ANCHORBOTTOM" val="No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None"/>
  <p:tag name="ANCHORBOTTOM" val="Non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11049</TotalTime>
  <Words>1010</Words>
  <Application>Microsoft Office PowerPoint</Application>
  <PresentationFormat>사용자 지정</PresentationFormat>
  <Paragraphs>413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1377</cp:revision>
  <dcterms:created xsi:type="dcterms:W3CDTF">2020-09-28T12:25:11Z</dcterms:created>
  <dcterms:modified xsi:type="dcterms:W3CDTF">2026-06-25T06:03:27Z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